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D49A2-4F8A-401A-9885-2E486006319F}" v="1" dt="2026-09-02T03:49:37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DEL-BOM</c:v>
                </c:pt>
                <c:pt idx="1">
                  <c:v>BLR-HYD</c:v>
                </c:pt>
                <c:pt idx="2">
                  <c:v>MAA-DEL</c:v>
                </c:pt>
                <c:pt idx="3">
                  <c:v>CCU-BOM</c:v>
                </c:pt>
                <c:pt idx="4">
                  <c:v>GOI-BLR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65</c:v>
                </c:pt>
                <c:pt idx="2">
                  <c:v>58</c:v>
                </c:pt>
                <c:pt idx="3">
                  <c:v>41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CE-4448-A90D-FB6BA6BD42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Monthly Revenue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Trend (₹ Lakh)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45</c:v>
                </c:pt>
                <c:pt idx="2">
                  <c:v>52</c:v>
                </c:pt>
                <c:pt idx="3">
                  <c:v>49</c:v>
                </c:pt>
                <c:pt idx="4">
                  <c:v>61</c:v>
                </c:pt>
                <c:pt idx="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34-4FCD-BC2C-0BCE8B758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6E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3E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6E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Bookings by Fare Class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Fare 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B3-4C8B-BE8E-8F317C1B965E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B3-4C8B-BE8E-8F317C1B965E}"/>
              </c:ext>
            </c:extLst>
          </c:dPt>
          <c:dPt>
            <c:idx val="2"/>
            <c:bubble3D val="0"/>
            <c:spPr>
              <a:solidFill>
                <a:srgbClr val="5FA8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B3-4C8B-BE8E-8F317C1B96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B3-4C8B-BE8E-8F317C1B96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B3-4C8B-BE8E-8F317C1B96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B3-4C8B-BE8E-8F317C1B96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Economy</c:v>
                </c:pt>
                <c:pt idx="1">
                  <c:v>Premium</c:v>
                </c:pt>
                <c:pt idx="2">
                  <c:v>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B3-4C8B-BE8E-8F317C1B9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7D6E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15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jp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0" y="411480"/>
            <a:ext cx="67025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8308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DSA0603 – DATA HANDLING AND VISUALIZATIONS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5457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Business Intelligence using SQL and Power BI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937760" y="3977640"/>
            <a:ext cx="23134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3434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3315C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526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</a:rPr>
              <a:t>GUIDED BY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Dr. S. Senthilvadivu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6E5"/>
                </a:solidFill>
              </a:rPr>
              <a:t>Professor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6E5"/>
                </a:solidFill>
              </a:rPr>
              <a:t>Department of CSE Data Vista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43434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3315C"/>
          </a:solidFill>
          <a:ln/>
        </p:spPr>
      </p:sp>
      <p:sp>
        <p:nvSpPr>
          <p:cNvPr id="13" name="Text 10"/>
          <p:cNvSpPr/>
          <p:nvPr/>
        </p:nvSpPr>
        <p:spPr>
          <a:xfrm>
            <a:off x="6519672" y="4526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</a:rPr>
              <a:t>PRESENTED BY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Mritsha S – 192324129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Mithun Senthil S – 192324056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Mallelli Mohith Goud – 192225028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E9A34F-B261-2953-B7D8-1EAA9BD184E7}"/>
              </a:ext>
            </a:extLst>
          </p:cNvPr>
          <p:cNvSpPr txBox="1"/>
          <p:nvPr/>
        </p:nvSpPr>
        <p:spPr>
          <a:xfrm>
            <a:off x="2098327" y="347493"/>
            <a:ext cx="8294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</a:t>
            </a:r>
            <a:endParaRPr lang="en-US" sz="18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SCIENCES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Google Shape;9228;p1">
            <a:extLst>
              <a:ext uri="{FF2B5EF4-FFF2-40B4-BE49-F238E27FC236}">
                <a16:creationId xmlns:a16="http://schemas.microsoft.com/office/drawing/2014/main" id="{DAD9E156-3DBD-A764-2E6D-45407061A4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1815" y="408733"/>
            <a:ext cx="1135063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9227;p1">
            <a:extLst>
              <a:ext uri="{FF2B5EF4-FFF2-40B4-BE49-F238E27FC236}">
                <a16:creationId xmlns:a16="http://schemas.microsoft.com/office/drawing/2014/main" id="{480F637C-5E3E-C744-E9D4-3465C10BBA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502" y="411480"/>
            <a:ext cx="152082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51560"/>
            <a:ext cx="694944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258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generate massive volumes of operational data — bookings, fares, routes, delays, and passenger records — across disconnected systems.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data alone cannot reveal profitability trends, route performance, or customer behaviour without structured analysis.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provides the backbone for reliable data acquisition, cleaning, and relational storage of airline datasets.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transforms structured airline data into interactive, decision-ready dashboards for stakeholders.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955280" y="1234440"/>
            <a:ext cx="777240" cy="7772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18" y="1420978"/>
            <a:ext cx="404165" cy="4041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15400" y="1399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955280" y="2377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3" descr="assets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818" y="2563978"/>
            <a:ext cx="404165" cy="4041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15400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7955280" y="35204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1818" y="3706978"/>
            <a:ext cx="404165" cy="40416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15400" y="3685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7818120" y="4754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Convert fragmented airline data into a unified, query-driven Business Intelligence platform.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Airline Business Intelligence system that acquires, structures, and visualizes airline operational data using SQL and Power BI.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4008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9AA7B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943100" y="2423160"/>
            <a:ext cx="914400" cy="9144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556" y="2642616"/>
            <a:ext cx="475488" cy="4754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914400" y="39319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SQL database storing flights, bookings, fares, and passenger records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48056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9AA7B0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783580" y="24231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assets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2642616"/>
            <a:ext cx="475488" cy="475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Layer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754880" y="39319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load-factor, and route profitability analysis using SQL queries and views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32104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9AA7B0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624060" y="24231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3516" y="26426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Layer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595360" y="39319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dashboards for real-time airline performance monitoring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C7293"/>
                </a:solidFill>
              </a:rPr>
              <a:t>Outcome: Faster, data-driven decisions on pricing, scheduling, and route strategy for airline management.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83696" cy="5394963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Author &amp; Title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Research Contribution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Research Gap Identified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R. Kumar &amp; A. Singh (2023)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SQL-Based Airline Data Warehousing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Designed a relational schema integrating flight, booking, and fare data for centralized querying.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Limited handling of unstructured data such as customer feedback and social sentiment.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P. Zhao et al. (2023)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BI Dashboards for Airline Revenue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Built Power BI dashboards to track load factor and yield across multiple routes.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No real-time data refresh; dashboards relied on static periodic exports.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M. Fernandes (2024)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Predictive Analytics in Airline Pricing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Applied regression models on historical fares to forecast dynamic pricing trends.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Model accuracy dropped for seasonal and holiday travel periods.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S. Rao &amp; K. Iyer (2024)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Cloud SQL Data Pipelines for Aviation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Automated ETL pipelines moving airline data from source systems into a cloud data warehouse.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High latency in pipeline scheduling during peak booking seasons.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A. Gupta (2024)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Interactive Visualization for Route Profitability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Developed drill-down Power BI reports for route-wise cost and revenue comparison.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Lacked integration with live SQL databases; used flat file imports only.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L. Chen (2025)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Customer Segmentation using Airline Booking Data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Used clustering on booking history to segment passengers by travel behaviour.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Segmentation not linked back to BI dashboards for actionable reporting.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data is scattered across booking, scheduling, and finance systems with no unified structure.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spreadsheet-based reporting is slow, error-prone, and lacks drill-down capability.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cannot see route profitability, delay patterns, or revenue trends in real time.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focus only on raw storage — not on actionable business intelligence.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868680" y="4709160"/>
            <a:ext cx="630936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1097280" y="484632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unified SQL + Power BI system for continuous, accurate, and visual airline business intelligence.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818120" y="118872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01000" y="1298448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9326880" y="13258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airline decisions still rely on manual reports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18120" y="288036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01000" y="2990088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9326880" y="301752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(booking, ops, finance)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18120" y="457200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01000" y="4681728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9326880" y="470916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route profitability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14300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307592"/>
            <a:ext cx="356616" cy="3566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08760" y="1161288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8" name="Text 3"/>
          <p:cNvSpPr/>
          <p:nvPr/>
        </p:nvSpPr>
        <p:spPr>
          <a:xfrm>
            <a:off x="1737360" y="1161288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SQL database for airline flights, bookings, fares, and passengers</a:t>
            </a:r>
            <a:endParaRPr lang="en-US" sz="1450" dirty="0"/>
          </a:p>
        </p:txBody>
      </p:sp>
      <p:sp>
        <p:nvSpPr>
          <p:cNvPr id="9" name="Shape 4"/>
          <p:cNvSpPr/>
          <p:nvPr/>
        </p:nvSpPr>
        <p:spPr>
          <a:xfrm>
            <a:off x="640080" y="216712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3" descr="assets/icon_search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331720"/>
            <a:ext cx="356616" cy="35661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08760" y="2185416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2" name="Text 6"/>
          <p:cNvSpPr/>
          <p:nvPr/>
        </p:nvSpPr>
        <p:spPr>
          <a:xfrm>
            <a:off x="1737360" y="2185416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revenue and profitability analytics using structured SQL queries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640080" y="3191256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4" descr="assets/icon_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355848"/>
            <a:ext cx="356616" cy="35661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209544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6" name="Text 9"/>
          <p:cNvSpPr/>
          <p:nvPr/>
        </p:nvSpPr>
        <p:spPr>
          <a:xfrm>
            <a:off x="1737360" y="3209544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filtering by route, date, airline, and fare class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" y="4215384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5" descr="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379976"/>
            <a:ext cx="356616" cy="35661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508760" y="4233672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0" name="Text 12"/>
          <p:cNvSpPr/>
          <p:nvPr/>
        </p:nvSpPr>
        <p:spPr>
          <a:xfrm>
            <a:off x="1737360" y="4233672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interactive, drill-down Power BI dashboards for real-time reporting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640080" y="523951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6" descr="assets/icon_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404104"/>
            <a:ext cx="356616" cy="356616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508760" y="5257800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4" name="Text 15"/>
          <p:cNvSpPr/>
          <p:nvPr/>
        </p:nvSpPr>
        <p:spPr>
          <a:xfrm>
            <a:off x="1737360" y="5257800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faster, data-backed decisions on scheduling and pricing strategy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13315C"/>
          </a:solidFill>
          <a:ln/>
        </p:spPr>
      </p:sp>
      <p:sp>
        <p:nvSpPr>
          <p:cNvPr id="6" name="Text 2"/>
          <p:cNvSpPr/>
          <p:nvPr/>
        </p:nvSpPr>
        <p:spPr>
          <a:xfrm>
            <a:off x="59436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82296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CSVs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Sheets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00400" y="3035808"/>
            <a:ext cx="502920" cy="32918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0" name="Shape 6"/>
          <p:cNvSpPr/>
          <p:nvPr/>
        </p:nvSpPr>
        <p:spPr>
          <a:xfrm>
            <a:off x="324612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338328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1188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2900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Joins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3035808"/>
            <a:ext cx="502920" cy="32918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5" name="Shape 11"/>
          <p:cNvSpPr/>
          <p:nvPr/>
        </p:nvSpPr>
        <p:spPr>
          <a:xfrm>
            <a:off x="603504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617220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ANALYTICS LAYER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Queries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Aggregation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78240" y="3035808"/>
            <a:ext cx="502920" cy="32918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20" name="Shape 16"/>
          <p:cNvSpPr/>
          <p:nvPr/>
        </p:nvSpPr>
        <p:spPr>
          <a:xfrm>
            <a:off x="882396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13315C"/>
          </a:solidFill>
          <a:ln/>
        </p:spPr>
      </p:sp>
      <p:sp>
        <p:nvSpPr>
          <p:cNvPr id="21" name="Text 17"/>
          <p:cNvSpPr/>
          <p:nvPr/>
        </p:nvSpPr>
        <p:spPr>
          <a:xfrm>
            <a:off x="896112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18972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0684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Views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raw airline source files, through a governed SQL layer, into analytics-ready views consumed by Power BI dashboards.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26" name="Image 2" descr="assets/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76072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Secure Data Access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438144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29" name="Image 3" descr="assets/icon_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576072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123944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Revenue KPIs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327648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32" name="Image 4" descr="assets/icon_c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576072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13448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&amp; ETL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217152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35" name="Image 5" descr="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576072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02952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BI for Stakeholders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USED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408176" y="1417320"/>
            <a:ext cx="822960" cy="8229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7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686" y="1614830"/>
            <a:ext cx="427939" cy="4279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Querying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8580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/ MySQL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/ SQL Joins &amp; Views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Indexing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338328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334256" y="14173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3" descr="assets/icon_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766" y="1614830"/>
            <a:ext cx="427939" cy="4279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2044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61188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(ETL)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cleaning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data sources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30936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260336" y="14173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7846" y="1614830"/>
            <a:ext cx="427939" cy="4279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4652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53796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(publishing)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 calculated measures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923544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10186416" y="1417320"/>
            <a:ext cx="822960" cy="8229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2" name="Image 5" descr="assets/icon_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3926" y="1614830"/>
            <a:ext cx="427939" cy="42793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7260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Concepts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946404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Load-factor KPIs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Profitability Modeling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Modeling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PROJECT MODULES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28016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13315C"/>
          </a:solidFill>
          <a:ln/>
        </p:spPr>
      </p:sp>
      <p:sp>
        <p:nvSpPr>
          <p:cNvPr id="6" name="Text 2"/>
          <p:cNvSpPr/>
          <p:nvPr/>
        </p:nvSpPr>
        <p:spPr>
          <a:xfrm>
            <a:off x="77724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77724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Data Acquisition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365760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3840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raw airline datasets, design normalized SQL schema, and load flights, bookings, fares &amp; passenger data.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70832" y="128016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4599432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4599432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Analytics Framework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99432" y="365760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99432" y="3840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analytical SQL queries and views to compute revenue, load factor, delays, and route profitability KPIs.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93024" y="128016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8421624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3"/>
          <p:cNvSpPr/>
          <p:nvPr/>
        </p:nvSpPr>
        <p:spPr>
          <a:xfrm>
            <a:off x="8421624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Development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Visualization using Power BI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421624" y="365760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21624" y="3840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the SQL layer and build drill-down dashboards for real-time airline performance monitoring.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DATA ACQUISITION &amp; DB MANAGEMENT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collect airline datasets: flight schedules, bookings, fares, passengers, airports.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schema (Flights, Bookings, Passengers, Fares, Airports, Airlines).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into SQL Server / MySQL using bulk import and validation scripts.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primary/foreign keys, indexing, and constraints to ensure data integrity.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staging tables for raw data and clean tables for analysis-ready data.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138160" y="1280160"/>
            <a:ext cx="1005840" cy="10058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2" y="15215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638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Tables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863840" y="28803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863840" y="3502152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63840" y="3502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123944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0" y="41239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4745736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3840" y="47457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863840" y="5367528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63840" y="5367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BI &amp; REVENUE ANALYTICS FRAMEWORK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joins across Flights, Bookings, and Fares to compute route-level revenue.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SQL views for load factor, average fare, on-time performance, and cancellations.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aggregate functions (SUM, AVG, GROUP BY) for monthly and seasonal trend analysis.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and loss-making routes through profitability queries.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clean analytical dataset (star-schema) ready for Power BI consumption.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138160" y="12801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2" descr="assets/icon_search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2" y="15215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KPIs Computed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863840" y="288036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0" y="2880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Revenue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863840" y="3538728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63840" y="3538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%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197096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0" y="41970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Fare / Route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4855464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3840" y="48554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 Rate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DASHBOARD DEVELOPMENT (POWER BI)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Desktop to the SQL database using a direct query / import connection.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model with relationships between Flights, Bookings, Fares, and Airports.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DAX measures for revenue, load factor, and delay KPIs.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interactive dashboards: route maps, revenue trends, and delay heatmaps.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slicers and drill-downs for airline, route, date range, and fare class.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dashboards to Power BI Service for stakeholder access.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8138160" y="128016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2" descr="assets/ico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2" y="15215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1812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Views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863840" y="288036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0" y="2880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Overview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863840" y="3538728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63840" y="3538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197096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0" y="41970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4855464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3840" y="48554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Trends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1A1A2E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— Route Revenue View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2296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vw_RouteRevenue 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f.Origin, f.Destination,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COUNT(b.BookingID) AS TotalBookings,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SUM(fr.FareAmount)  AS TotalRevenue,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AVG(fr.FareAmount)  AS AvgFare,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ROUND(AVG(f.SeatsSold * 100.0 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f.SeatsAvailable), 2) AS LoadFactor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Flights 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Bookings b ON b.FlightID = f.FlightID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Fares fr    ON fr.FareID  = b.FareID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f.Origin, f.Destination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TotalRevenue DESC;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55080" y="1097280"/>
            <a:ext cx="530352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Route (Sample Output)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92240" y="1691640"/>
          <a:ext cx="5029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94944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41732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SQL database successfully consolidates flights, bookings, fares, and passenger records.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 deliver accurate revenue, load-factor, and delay KPIs on demand.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provide real-time, drill-down visibility into route performance.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 filter by airline, route, and date range for instant insights.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reporting time reduced compared to manual spreadsheet-based analysis.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7818120" y="123444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800100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00100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SQL Modules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97180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8001000" y="3108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001000" y="3794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 Built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18120" y="470916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8001000" y="4846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001000" y="5532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Refresh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OUTPUT (POWER BI)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051560"/>
            <a:ext cx="11277295" cy="5212080"/>
          </a:xfrm>
          <a:prstGeom prst="roundRect">
            <a:avLst>
              <a:gd name="adj" fmla="val 1754"/>
            </a:avLst>
          </a:prstGeom>
          <a:solidFill>
            <a:srgbClr val="1A1A2E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Performance Overview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3152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₹2.4 Cr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6868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1" name="Text 7"/>
          <p:cNvSpPr/>
          <p:nvPr/>
        </p:nvSpPr>
        <p:spPr>
          <a:xfrm>
            <a:off x="356616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56616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Load Factor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4" name="Text 10"/>
          <p:cNvSpPr/>
          <p:nvPr/>
        </p:nvSpPr>
        <p:spPr>
          <a:xfrm>
            <a:off x="626364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4,320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26364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82396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7" name="Text 13"/>
          <p:cNvSpPr/>
          <p:nvPr/>
        </p:nvSpPr>
        <p:spPr>
          <a:xfrm>
            <a:off x="896112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6.2%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96112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731520" y="2971800"/>
          <a:ext cx="5120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6035040" y="2971800"/>
          <a:ext cx="2834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Shape 15"/>
          <p:cNvSpPr/>
          <p:nvPr/>
        </p:nvSpPr>
        <p:spPr>
          <a:xfrm>
            <a:off x="9098280" y="2971800"/>
            <a:ext cx="2377440" cy="3063240"/>
          </a:xfrm>
          <a:prstGeom prst="roundRect">
            <a:avLst>
              <a:gd name="adj" fmla="val 3077"/>
            </a:avLst>
          </a:prstGeom>
          <a:solidFill>
            <a:srgbClr val="13315C"/>
          </a:solidFill>
          <a:ln/>
        </p:spPr>
      </p:sp>
      <p:sp>
        <p:nvSpPr>
          <p:cNvPr id="22" name="Text 16"/>
          <p:cNvSpPr/>
          <p:nvPr/>
        </p:nvSpPr>
        <p:spPr>
          <a:xfrm>
            <a:off x="92354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235440" y="35204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4" name="Text 18"/>
          <p:cNvSpPr/>
          <p:nvPr/>
        </p:nvSpPr>
        <p:spPr>
          <a:xfrm>
            <a:off x="932688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235440" y="4142232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9326880" y="4142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235440" y="476402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8" name="Text 22"/>
          <p:cNvSpPr/>
          <p:nvPr/>
        </p:nvSpPr>
        <p:spPr>
          <a:xfrm>
            <a:off x="9326880" y="47640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235440" y="538581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30" name="Text 24"/>
          <p:cNvSpPr/>
          <p:nvPr/>
        </p:nvSpPr>
        <p:spPr>
          <a:xfrm>
            <a:off x="9326880" y="53858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Class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22960" y="1645920"/>
            <a:ext cx="2377440" cy="23774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2" descr="assets/icon_p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546" y="2216506"/>
            <a:ext cx="1236269" cy="123626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74904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system successfully combines: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3749040" y="1965960"/>
            <a:ext cx="594360" cy="5943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9" name="Image 3" descr="assets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1686" y="2108606"/>
            <a:ext cx="309067" cy="3090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2628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(SQL)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4526280" y="2258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normalized airline database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3749040" y="2834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4" descr="assets/icon_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1686" y="2977286"/>
            <a:ext cx="309067" cy="3090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2628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(SQL Queries)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526280" y="31272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load factor &amp; profitability insights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3749040" y="37033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5" descr="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1686" y="3845966"/>
            <a:ext cx="309067" cy="30906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52628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(Power BI)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4526280" y="39959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real-time decision dashboards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7F1FA"/>
          </a:solidFill>
          <a:ln/>
        </p:spPr>
      </p:sp>
      <p:sp>
        <p:nvSpPr>
          <p:cNvPr id="21" name="Text 13"/>
          <p:cNvSpPr/>
          <p:nvPr/>
        </p:nvSpPr>
        <p:spPr>
          <a:xfrm>
            <a:off x="822960" y="489204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for: Airline revenue management teams, route planning departments, and executive reporting dashboards.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23444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2" descr="assets/icon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399032"/>
            <a:ext cx="356616" cy="3566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08760" y="1252728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8" name="Text 3"/>
          <p:cNvSpPr/>
          <p:nvPr/>
        </p:nvSpPr>
        <p:spPr>
          <a:xfrm>
            <a:off x="1737360" y="1252728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a cloud data warehouse (Azure SQL / Synapse) for scale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640080" y="225856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3" descr="assets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356616" cy="35661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08760" y="2276856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2" name="Text 6"/>
          <p:cNvSpPr/>
          <p:nvPr/>
        </p:nvSpPr>
        <p:spPr>
          <a:xfrm>
            <a:off x="1737360" y="2276856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(ML) for fare forecasting and demand prediction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640080" y="3282696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447288"/>
            <a:ext cx="356616" cy="35661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300984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6" name="Text 9"/>
          <p:cNvSpPr/>
          <p:nvPr/>
        </p:nvSpPr>
        <p:spPr>
          <a:xfrm>
            <a:off x="1737360" y="3300984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data into Power BI for live flight monitoring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" y="4306824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5" descr="assets/icon_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471416"/>
            <a:ext cx="356616" cy="35661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508760" y="4325112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0" name="Text 12"/>
          <p:cNvSpPr/>
          <p:nvPr/>
        </p:nvSpPr>
        <p:spPr>
          <a:xfrm>
            <a:off x="1737360" y="4325112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secure, department-wise dashboard views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640080" y="53309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6" descr="assets/icon_site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495544"/>
            <a:ext cx="356616" cy="356616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508760" y="5349240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4" name="Text 15"/>
          <p:cNvSpPr/>
          <p:nvPr/>
        </p:nvSpPr>
        <p:spPr>
          <a:xfrm>
            <a:off x="1737360" y="5349240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multi-airline, multi-country route networks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188720"/>
            <a:ext cx="1091153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Kumar and A. Singh, "SQL-Based Airline Data Warehousing," Journal of Data Engineering, 2023.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P. Zhao et al., "BI Dashboards for Airline Revenue Management," Int. Journal of Aviation Analytics, 2023.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Fernandes, "Predictive Analytics in Airline Pricing," Transportation Research, 2024.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Rao and K. Iyer, "Cloud SQL Data Pipelines for Aviation," IEEE Access, 2024.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A. Gupta, "Interactive Visualization for Route Profitability," Journal of Business Intelligence, 2024.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L. Chen, "Customer Segmentation using Airline Booking Data," Data Science Review, 2025.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Microsoft, "Power BI Documentation — Data Modeling and DAX," 2025.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Microsoft, "SQL Server T-SQL Reference Documentation," 2025.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828800"/>
            <a:ext cx="1097280" cy="10972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assets/icon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20921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Business Intelligence using SQL and Power BI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1738</Words>
  <Application>Microsoft Office PowerPoint</Application>
  <PresentationFormat>Widescreen</PresentationFormat>
  <Paragraphs>275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Mithun s</cp:lastModifiedBy>
  <cp:revision>2</cp:revision>
  <dcterms:created xsi:type="dcterms:W3CDTF">2026-07-22T06:25:33Z</dcterms:created>
  <dcterms:modified xsi:type="dcterms:W3CDTF">2026-09-02T03:50:30Z</dcterms:modified>
</cp:coreProperties>
</file>