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D49A2-4F8A-401A-9885-2E486006319F}" v="1" dt="2026-09-02T03:49:37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hun s" userId="dd0aea9540a49ece" providerId="LiveId" clId="{679C2E18-537F-4C4C-A3ED-5EC5054AA2D6}"/>
    <pc:docChg chg="custSel modSld">
      <pc:chgData name="Mithun s" userId="dd0aea9540a49ece" providerId="LiveId" clId="{679C2E18-537F-4C4C-A3ED-5EC5054AA2D6}" dt="2026-09-02T03:50:03.244" v="16" actId="1076"/>
      <pc:docMkLst>
        <pc:docMk/>
      </pc:docMkLst>
      <pc:sldChg chg="addSp delSp modSp mod">
        <pc:chgData name="Mithun s" userId="dd0aea9540a49ece" providerId="LiveId" clId="{679C2E18-537F-4C4C-A3ED-5EC5054AA2D6}" dt="2026-09-02T03:50:03.244" v="16" actId="1076"/>
        <pc:sldMkLst>
          <pc:docMk/>
          <pc:sldMk cId="0" sldId="256"/>
        </pc:sldMkLst>
        <pc:spChg chg="del">
          <ac:chgData name="Mithun s" userId="dd0aea9540a49ece" providerId="LiveId" clId="{679C2E18-537F-4C4C-A3ED-5EC5054AA2D6}" dt="2026-09-02T03:49:29.837" v="9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Mithun s" userId="dd0aea9540a49ece" providerId="LiveId" clId="{679C2E18-537F-4C4C-A3ED-5EC5054AA2D6}" dt="2026-09-02T03:49:31.949" v="10" actId="478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Mithun s" userId="dd0aea9540a49ece" providerId="LiveId" clId="{679C2E18-537F-4C4C-A3ED-5EC5054AA2D6}" dt="2026-09-02T03:49:16.896" v="6" actId="1076"/>
          <ac:spMkLst>
            <pc:docMk/>
            <pc:sldMk cId="0" sldId="256"/>
            <ac:spMk id="16" creationId="{CEE9A34F-B261-2953-B7D8-1EAA9BD184E7}"/>
          </ac:spMkLst>
        </pc:spChg>
        <pc:spChg chg="add del mod">
          <ac:chgData name="Mithun s" userId="dd0aea9540a49ece" providerId="LiveId" clId="{679C2E18-537F-4C4C-A3ED-5EC5054AA2D6}" dt="2026-09-02T03:49:51.617" v="13"/>
          <ac:spMkLst>
            <pc:docMk/>
            <pc:sldMk cId="0" sldId="256"/>
            <ac:spMk id="21" creationId="{E6D54265-0B2C-90F1-44CC-34A7201A9332}"/>
          </ac:spMkLst>
        </pc:spChg>
        <pc:picChg chg="del">
          <ac:chgData name="Mithun s" userId="dd0aea9540a49ece" providerId="LiveId" clId="{679C2E18-537F-4C4C-A3ED-5EC5054AA2D6}" dt="2026-09-02T03:48:54.857" v="0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Mithun s" userId="dd0aea9540a49ece" providerId="LiveId" clId="{679C2E18-537F-4C4C-A3ED-5EC5054AA2D6}" dt="2026-09-02T03:50:03.244" v="16" actId="1076"/>
          <ac:picMkLst>
            <pc:docMk/>
            <pc:sldMk cId="0" sldId="256"/>
            <ac:picMk id="18" creationId="{DAD9E156-3DBD-A764-2E6D-45407061A42A}"/>
          </ac:picMkLst>
        </pc:picChg>
        <pc:picChg chg="add mod">
          <ac:chgData name="Mithun s" userId="dd0aea9540a49ece" providerId="LiveId" clId="{679C2E18-537F-4C4C-A3ED-5EC5054AA2D6}" dt="2026-09-02T03:50:00.660" v="15" actId="1076"/>
          <ac:picMkLst>
            <pc:docMk/>
            <pc:sldMk cId="0" sldId="256"/>
            <ac:picMk id="20" creationId="{480F637C-5E3E-C744-E9D4-3465C10BBA74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DEL-BOM</c:v>
                </c:pt>
                <c:pt idx="1">
                  <c:v>BLR-HYD</c:v>
                </c:pt>
                <c:pt idx="2">
                  <c:v>MAA-DEL</c:v>
                </c:pt>
                <c:pt idx="3">
                  <c:v>CCU-BOM</c:v>
                </c:pt>
                <c:pt idx="4">
                  <c:v>GOI-BLR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65</c:v>
                </c:pt>
                <c:pt idx="2">
                  <c:v>58</c:v>
                </c:pt>
                <c:pt idx="3">
                  <c:v>41</c:v>
                </c:pt>
                <c:pt idx="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CE-4448-A90D-FB6BA6BD42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Arial"/>
              </a:rPr>
              <a:t>Monthly Revenue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Trend (₹ Lakh)</c:v>
                </c:pt>
              </c:strCache>
            </c:strRef>
          </c:tx>
          <c:spPr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45</c:v>
                </c:pt>
                <c:pt idx="2">
                  <c:v>52</c:v>
                </c:pt>
                <c:pt idx="3">
                  <c:v>49</c:v>
                </c:pt>
                <c:pt idx="4">
                  <c:v>61</c:v>
                </c:pt>
                <c:pt idx="5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34-4FCD-BC2C-0BCE8B758B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D6E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C3E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D6E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Arial"/>
              </a:rPr>
              <a:t>Bookings by Fare Class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Fare 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5B3-4C8B-BE8E-8F317C1B965E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B3-4C8B-BE8E-8F317C1B965E}"/>
              </c:ext>
            </c:extLst>
          </c:dPt>
          <c:dPt>
            <c:idx val="2"/>
            <c:bubble3D val="0"/>
            <c:spPr>
              <a:solidFill>
                <a:srgbClr val="5FA8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5B3-4C8B-BE8E-8F317C1B965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B3-4C8B-BE8E-8F317C1B965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B3-4C8B-BE8E-8F317C1B965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B3-4C8B-BE8E-8F317C1B965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Economy</c:v>
                </c:pt>
                <c:pt idx="1">
                  <c:v>Premium</c:v>
                </c:pt>
                <c:pt idx="2">
                  <c:v>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23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5B3-4C8B-BE8E-8F317C1B9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7D6E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15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jp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4.jpg"/><Relationship Id="rId9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743200" y="411480"/>
            <a:ext cx="67025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8308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DSA0603 – DATA HANDLING AND VISUALIZATIONS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1054577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Business Intelligence using SQL and Power BI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937760" y="3977640"/>
            <a:ext cx="231343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43434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13315C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45262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</a:rPr>
              <a:t>GUIDED BY
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Dr. S. Senthilvadivu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6E5"/>
                </a:solidFill>
              </a:rPr>
              <a:t>Professor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6E5"/>
                </a:solidFill>
              </a:rPr>
              <a:t>Department of CSE Data Vista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5352" y="43434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13315C"/>
          </a:solidFill>
          <a:ln/>
        </p:spPr>
      </p:sp>
      <p:sp>
        <p:nvSpPr>
          <p:cNvPr id="13" name="Text 10"/>
          <p:cNvSpPr/>
          <p:nvPr/>
        </p:nvSpPr>
        <p:spPr>
          <a:xfrm>
            <a:off x="6519672" y="45262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</a:rPr>
              <a:t>PRESENTED BY
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Mritsha S – 192324129
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Mithun Senthil S – 192324056
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Mallelli Mohith Goud – 192225028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E9A34F-B261-2953-B7D8-1EAA9BD184E7}"/>
              </a:ext>
            </a:extLst>
          </p:cNvPr>
          <p:cNvSpPr txBox="1"/>
          <p:nvPr/>
        </p:nvSpPr>
        <p:spPr>
          <a:xfrm>
            <a:off x="2098327" y="347493"/>
            <a:ext cx="8294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</a:t>
            </a: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INSTITUTE OF MEDICAL AND </a:t>
            </a:r>
            <a:endParaRPr lang="en-US" sz="18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SCIENCES</a:t>
            </a: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" name="Google Shape;9228;p1">
            <a:extLst>
              <a:ext uri="{FF2B5EF4-FFF2-40B4-BE49-F238E27FC236}">
                <a16:creationId xmlns:a16="http://schemas.microsoft.com/office/drawing/2014/main" id="{DAD9E156-3DBD-A764-2E6D-45407061A4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1815" y="408733"/>
            <a:ext cx="1135063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9227;p1">
            <a:extLst>
              <a:ext uri="{FF2B5EF4-FFF2-40B4-BE49-F238E27FC236}">
                <a16:creationId xmlns:a16="http://schemas.microsoft.com/office/drawing/2014/main" id="{480F637C-5E3E-C744-E9D4-3465C10BBA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502" y="411480"/>
            <a:ext cx="152082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51560"/>
            <a:ext cx="694944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32588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generate massive volumes of operational data — bookings, fares, routes, delays, and passenger records — across disconnected systems.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transactional data alone cannot reveal profitability trends, route performance, or customer behaviour without structured analysis.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provides the backbone for reliable data acquisition, cleaning, and relational storage of airline datasets.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transforms structured airline data into interactive, decision-ready dashboards for stakeholders.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955280" y="1234440"/>
            <a:ext cx="777240" cy="7772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8" name="Image 2" descr="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818" y="1420978"/>
            <a:ext cx="404165" cy="4041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15400" y="1399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955280" y="23774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3" descr="assets/icon_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818" y="2563978"/>
            <a:ext cx="404165" cy="40416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15400" y="2542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Analytics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7955280" y="35204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4" descr="assets/ic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1818" y="3706978"/>
            <a:ext cx="404165" cy="40416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915400" y="3685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7818120" y="47548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Convert fragmented airline data into a unified, query-driven Business Intelligence platform.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0972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end-to-end Airline Business Intelligence system that acquires, structures, and visualizes airline operational data using SQL and Power BI.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4008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9AA7B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1943100" y="2423160"/>
            <a:ext cx="914400" cy="9144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8" name="Image 2" descr="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556" y="2642616"/>
            <a:ext cx="475488" cy="4754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3474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914400" y="39319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SQL database storing flights, bookings, fares, and passenger records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48056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9AA7B0">
                <a:alpha val="3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783580" y="24231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3" descr="assets/icon_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036" y="2642616"/>
            <a:ext cx="475488" cy="4754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3440" y="3474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Layer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754880" y="39319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load-factor, and route profitability analysis using SQL queries and views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832104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9AA7B0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624060" y="242316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4" descr="assets/ic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3516" y="264261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03920" y="3474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Layer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595360" y="39319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dashboards for real-time airline performance monitoring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1C7293"/>
                </a:solidFill>
              </a:rPr>
              <a:t>Outcome: Faster, data-driven decisions on pricing, scheduling, and route strategy for airline management.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83696" cy="5394963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Author &amp; Title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Research Contribution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Research Gap Identified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R. Kumar &amp; A. Singh (2023)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SQL-Based Airline Data Warehousing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Designed a relational schema integrating flight, booking, and fare data for centralized querying.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Limited handling of unstructured data such as customer feedback and social sentiment.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P. Zhao et al. (2023)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BI Dashboards for Airline Revenue Management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Built Power BI dashboards to track load factor and yield across multiple routes.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No real-time data refresh; dashboards relied on static periodic exports.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M. Fernandes (2024)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Predictive Analytics in Airline Pricing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Applied regression models on historical fares to forecast dynamic pricing trends.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Model accuracy dropped for seasonal and holiday travel periods.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S. Rao &amp; K. Iyer (2024)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Cloud SQL Data Pipelines for Aviation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Automated ETL pipelines moving airline data from source systems into a cloud data warehouse.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High latency in pipeline scheduling during peak booking seasons.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A. Gupta (2024)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Interactive Visualization for Route Profitability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Developed drill-down Power BI reports for route-wise cost and revenue comparison.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Lacked integration with live SQL databases; used flat file imports only.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0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L. Chen (2025)</a:t>
                      </a:r>
                      <a:endParaRPr lang="en-US" sz="105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Customer Segmentation using Airline Booking Data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Used clustering on booking history to segment passengers by travel behaviour.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Segmentation not linked back to BI dashboards for actionable reporting.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685800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371600"/>
            <a:ext cx="6309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data is scattered across booking, scheduling, and finance systems with no unified structure.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spreadsheet-based reporting is slow, error-prone, and lacks drill-down capability.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cannot see route profitability, delay patterns, or revenue trends in real time.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focus only on raw storage — not on actionable business intelligence.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868680" y="4709160"/>
            <a:ext cx="630936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sp>
        <p:nvSpPr>
          <p:cNvPr id="8" name="Text 4"/>
          <p:cNvSpPr/>
          <p:nvPr/>
        </p:nvSpPr>
        <p:spPr>
          <a:xfrm>
            <a:off x="1097280" y="484632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unified SQL + Power BI system for continuous, accurate, and visual airline business intelligence.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818120" y="118872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01000" y="1298448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9326880" y="132588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airline decisions still rely on manual reports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818120" y="288036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01000" y="2990088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9326880" y="301752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(booking, ops, finance)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18120" y="457200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01000" y="4681728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9326880" y="470916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route profitability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143000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2" descr="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1307592"/>
            <a:ext cx="356616" cy="3566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508760" y="1161288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8" name="Text 3"/>
          <p:cNvSpPr/>
          <p:nvPr/>
        </p:nvSpPr>
        <p:spPr>
          <a:xfrm>
            <a:off x="1737360" y="1161288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SQL database for airline flights, bookings, fares, and passengers</a:t>
            </a:r>
            <a:endParaRPr lang="en-US" sz="1450" dirty="0"/>
          </a:p>
        </p:txBody>
      </p:sp>
      <p:sp>
        <p:nvSpPr>
          <p:cNvPr id="9" name="Shape 4"/>
          <p:cNvSpPr/>
          <p:nvPr/>
        </p:nvSpPr>
        <p:spPr>
          <a:xfrm>
            <a:off x="640080" y="2167128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3" descr="assets/icon_searchdoll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331720"/>
            <a:ext cx="356616" cy="35661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508760" y="2185416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12" name="Text 6"/>
          <p:cNvSpPr/>
          <p:nvPr/>
        </p:nvSpPr>
        <p:spPr>
          <a:xfrm>
            <a:off x="1737360" y="2185416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revenue and profitability analytics using structured SQL queries</a:t>
            </a:r>
            <a:endParaRPr lang="en-US" sz="1450" dirty="0"/>
          </a:p>
        </p:txBody>
      </p:sp>
      <p:sp>
        <p:nvSpPr>
          <p:cNvPr id="13" name="Shape 7"/>
          <p:cNvSpPr/>
          <p:nvPr/>
        </p:nvSpPr>
        <p:spPr>
          <a:xfrm>
            <a:off x="640080" y="3191256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4" descr="assets/icon_fil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355848"/>
            <a:ext cx="356616" cy="35661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508760" y="3209544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16" name="Text 9"/>
          <p:cNvSpPr/>
          <p:nvPr/>
        </p:nvSpPr>
        <p:spPr>
          <a:xfrm>
            <a:off x="1737360" y="3209544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dynamic filtering by route, date, airline, and fare class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" y="4215384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8" name="Image 5" descr="assets/icon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4379976"/>
            <a:ext cx="356616" cy="35661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508760" y="4233672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20" name="Text 12"/>
          <p:cNvSpPr/>
          <p:nvPr/>
        </p:nvSpPr>
        <p:spPr>
          <a:xfrm>
            <a:off x="1737360" y="4233672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interactive, drill-down Power BI dashboards for real-time reporting</a:t>
            </a:r>
            <a:endParaRPr lang="en-US" sz="1450" dirty="0"/>
          </a:p>
        </p:txBody>
      </p:sp>
      <p:sp>
        <p:nvSpPr>
          <p:cNvPr id="21" name="Shape 13"/>
          <p:cNvSpPr/>
          <p:nvPr/>
        </p:nvSpPr>
        <p:spPr>
          <a:xfrm>
            <a:off x="640080" y="523951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6" descr="assets/icon_roc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5404104"/>
            <a:ext cx="356616" cy="356616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508760" y="5257800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24" name="Text 15"/>
          <p:cNvSpPr/>
          <p:nvPr/>
        </p:nvSpPr>
        <p:spPr>
          <a:xfrm>
            <a:off x="1737360" y="5257800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faster, data-backed decisions on scheduling and pricing strategy</a:t>
            </a:r>
            <a:endParaRPr lang="en-US" sz="1450" dirty="0"/>
          </a:p>
        </p:txBody>
      </p:sp>
      <p:sp>
        <p:nvSpPr>
          <p:cNvPr id="25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57200" y="187452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13315C"/>
          </a:solidFill>
          <a:ln/>
        </p:spPr>
      </p:sp>
      <p:sp>
        <p:nvSpPr>
          <p:cNvPr id="6" name="Text 2"/>
          <p:cNvSpPr/>
          <p:nvPr/>
        </p:nvSpPr>
        <p:spPr>
          <a:xfrm>
            <a:off x="59436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822960" y="2587752"/>
            <a:ext cx="20574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26974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CSVs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Logs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Sheets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200400" y="3035808"/>
            <a:ext cx="502920" cy="329184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0" name="Shape 6"/>
          <p:cNvSpPr/>
          <p:nvPr/>
        </p:nvSpPr>
        <p:spPr>
          <a:xfrm>
            <a:off x="3246120" y="187452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1C7293"/>
          </a:solidFill>
          <a:ln/>
        </p:spPr>
      </p:sp>
      <p:sp>
        <p:nvSpPr>
          <p:cNvPr id="11" name="Text 7"/>
          <p:cNvSpPr/>
          <p:nvPr/>
        </p:nvSpPr>
        <p:spPr>
          <a:xfrm>
            <a:off x="338328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DATABASE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11880" y="2587752"/>
            <a:ext cx="20574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29000" y="26974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Tables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&amp; Joins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9320" y="3035808"/>
            <a:ext cx="502920" cy="329184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5" name="Shape 11"/>
          <p:cNvSpPr/>
          <p:nvPr/>
        </p:nvSpPr>
        <p:spPr>
          <a:xfrm>
            <a:off x="6035040" y="187452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617220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ANALYTICS LAYER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0" y="2587752"/>
            <a:ext cx="20574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0" y="26974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Queries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Aggregation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778240" y="3035808"/>
            <a:ext cx="502920" cy="329184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20" name="Shape 16"/>
          <p:cNvSpPr/>
          <p:nvPr/>
        </p:nvSpPr>
        <p:spPr>
          <a:xfrm>
            <a:off x="8823960" y="187452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13315C"/>
          </a:solidFill>
          <a:ln/>
        </p:spPr>
      </p:sp>
      <p:sp>
        <p:nvSpPr>
          <p:cNvPr id="21" name="Text 17"/>
          <p:cNvSpPr/>
          <p:nvPr/>
        </p:nvSpPr>
        <p:spPr>
          <a:xfrm>
            <a:off x="8961120" y="2039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189720" y="2587752"/>
            <a:ext cx="20574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006840" y="26974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Views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raw airline source files, through a governed SQL layer, into analytics-ready views consumed by Power BI dashboards.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8640" y="5623560"/>
            <a:ext cx="2724912" cy="777240"/>
          </a:xfrm>
          <a:prstGeom prst="roundRect">
            <a:avLst>
              <a:gd name="adj" fmla="val 9412"/>
            </a:avLst>
          </a:prstGeom>
          <a:solidFill>
            <a:srgbClr val="E7F1FA"/>
          </a:solidFill>
          <a:ln/>
        </p:spPr>
      </p:sp>
      <p:pic>
        <p:nvPicPr>
          <p:cNvPr id="26" name="Image 2" descr="assets/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76072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34440" y="5623560"/>
            <a:ext cx="1947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Secure Data Access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438144" y="5623560"/>
            <a:ext cx="2724912" cy="777240"/>
          </a:xfrm>
          <a:prstGeom prst="roundRect">
            <a:avLst>
              <a:gd name="adj" fmla="val 9412"/>
            </a:avLst>
          </a:prstGeom>
          <a:solidFill>
            <a:srgbClr val="E7F1FA"/>
          </a:solidFill>
          <a:ln/>
        </p:spPr>
      </p:sp>
      <p:pic>
        <p:nvPicPr>
          <p:cNvPr id="29" name="Image 3" descr="assets/icon_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576072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123944" y="5623560"/>
            <a:ext cx="1947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Revenue KPIs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327648" y="5623560"/>
            <a:ext cx="2724912" cy="777240"/>
          </a:xfrm>
          <a:prstGeom prst="roundRect">
            <a:avLst>
              <a:gd name="adj" fmla="val 9412"/>
            </a:avLst>
          </a:prstGeom>
          <a:solidFill>
            <a:srgbClr val="E7F1FA"/>
          </a:solidFill>
          <a:ln/>
        </p:spPr>
      </p:sp>
      <p:pic>
        <p:nvPicPr>
          <p:cNvPr id="32" name="Image 4" descr="assets/icon_co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5760720"/>
            <a:ext cx="502920" cy="5029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13448" y="5623560"/>
            <a:ext cx="1947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&amp; ETL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9217152" y="5623560"/>
            <a:ext cx="2724912" cy="777240"/>
          </a:xfrm>
          <a:prstGeom prst="roundRect">
            <a:avLst>
              <a:gd name="adj" fmla="val 9412"/>
            </a:avLst>
          </a:prstGeom>
          <a:solidFill>
            <a:srgbClr val="E7F1FA"/>
          </a:solidFill>
          <a:ln/>
        </p:spPr>
      </p:sp>
      <p:pic>
        <p:nvPicPr>
          <p:cNvPr id="35" name="Image 5" descr="assets/icon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576072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902952" y="5623560"/>
            <a:ext cx="1947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BI for Stakeholders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 USED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57200" y="1188720"/>
            <a:ext cx="2724912" cy="49377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1408176" y="1417320"/>
            <a:ext cx="822960" cy="8229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7" name="Image 2" descr="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686" y="1614830"/>
            <a:ext cx="427939" cy="4279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360" y="23774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Querying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85800" y="301752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/ MySQL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/ SQL Joins &amp; Views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Indexing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3383280" y="1188720"/>
            <a:ext cx="2724912" cy="49377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334256" y="14173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3" descr="assets/icon_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766" y="1614830"/>
            <a:ext cx="427939" cy="4279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20440" y="23774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3611880" y="301752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(ETL)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for cleaning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data sources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309360" y="1188720"/>
            <a:ext cx="2724912" cy="49377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260336" y="14173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4" descr="assets/ic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7846" y="1614830"/>
            <a:ext cx="427939" cy="42793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46520" y="23774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537960" y="301752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 (publishing)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 calculated measures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9235440" y="1188720"/>
            <a:ext cx="2724912" cy="49377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63500" dist="25400" dir="5400000" algn="bl" rotWithShape="0">
              <a:srgbClr val="9AA7B0">
                <a:alpha val="2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10186416" y="1417320"/>
            <a:ext cx="822960" cy="8229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2" name="Image 5" descr="assets/icon_chart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3926" y="1614830"/>
            <a:ext cx="427939" cy="42793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372600" y="23774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Concepts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9464040" y="301752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Load-factor KPIs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Profitability Modeling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 Modeling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PROJECT MODULES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28016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13315C"/>
          </a:solidFill>
          <a:ln/>
        </p:spPr>
      </p:sp>
      <p:sp>
        <p:nvSpPr>
          <p:cNvPr id="6" name="Text 2"/>
          <p:cNvSpPr/>
          <p:nvPr/>
        </p:nvSpPr>
        <p:spPr>
          <a:xfrm>
            <a:off x="777240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777240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Data Acquisition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77240" y="365760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3840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raw airline datasets, design normalized SQL schema, and load flights, bookings, fares &amp; passenger data.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70832" y="128016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1C7293"/>
          </a:solidFill>
          <a:ln/>
        </p:spPr>
      </p:sp>
      <p:sp>
        <p:nvSpPr>
          <p:cNvPr id="11" name="Text 7"/>
          <p:cNvSpPr/>
          <p:nvPr/>
        </p:nvSpPr>
        <p:spPr>
          <a:xfrm>
            <a:off x="4599432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4599432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Analytics Framework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99432" y="365760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99432" y="3840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analytical SQL queries and views to compute revenue, load factor, delays, and route profitability KPIs.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93024" y="128016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8421624" y="1417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17" name="Text 13"/>
          <p:cNvSpPr/>
          <p:nvPr/>
        </p:nvSpPr>
        <p:spPr>
          <a:xfrm>
            <a:off x="8421624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Development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Visualization using Power BI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421624" y="3657600"/>
            <a:ext cx="3108960" cy="0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21624" y="38404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to the SQL layer and build drill-down dashboards for real-time airline performance monitoring.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1: DATA ACQUISITION &amp; DB MANAGEMENT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685800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371600"/>
            <a:ext cx="63093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collect airline datasets: flight schedules, bookings, fares, passengers, airports.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relational schema (Flights, Bookings, Passengers, Fares, Airports, Airlines).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into SQL Server / MySQL using bulk import and validation scripts.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primary/foreign keys, indexing, and constraints to ensure data integrity.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staging tables for raw data and clean tables for analysis-ready data.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138160" y="1280160"/>
            <a:ext cx="1005840" cy="10058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8" name="Image 2" descr="assets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562" y="1521562"/>
            <a:ext cx="523037" cy="5230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6384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Tables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863840" y="288036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63840" y="2880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863840" y="3502152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863840" y="35021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63840" y="4123944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863840" y="412394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63840" y="4745736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863840" y="47457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863840" y="5367528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863840" y="53675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2: BI &amp; REVENUE ANALYTICS FRAMEWORK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685800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371600"/>
            <a:ext cx="63093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 joins across Flights, Bookings, and Fares to compute route-level revenue.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SQL views for load factor, average fare, on-time performance, and cancellations.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aggregate functions (SUM, AVG, GROUP BY) for monthly and seasonal trend analysis.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and loss-making routes through profitability queries.</a:t>
            </a:r>
            <a:endParaRPr lang="en-US" sz="1400" dirty="0"/>
          </a:p>
          <a:p>
            <a:pPr marL="342900" indent="-342900">
              <a:spcAft>
                <a:spcPts val="1500"/>
              </a:spcAft>
              <a:buSzPct val="100000"/>
              <a:buChar char="●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clean analytical dataset (star-schema) ready for Power BI consumption.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138160" y="12801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2" descr="assets/icon_search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562" y="1521562"/>
            <a:ext cx="523037" cy="5230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72400" y="2423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KPIs Computed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863840" y="288036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63840" y="2880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Revenue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863840" y="3538728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863840" y="35387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 %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63840" y="4197096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863840" y="419709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Fare / Route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63840" y="4855464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863840" y="48554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&amp; Cancellation Rate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DASHBOARD DEVELOPMENT (POWER BI)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685800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371600"/>
            <a:ext cx="63093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Desktop to the SQL database using a direct query / import connection.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 model with relationships between Flights, Bookings, Fares, and Airports.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DAX measures for revenue, load factor, and delay KPIs.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interactive dashboards: route maps, revenue trends, and delay heatmaps.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slicers and drill-downs for airline, route, date range, and fare class.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dashboards to Power BI Service for stakeholder access.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8138160" y="128016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2" descr="assets/icon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562" y="1521562"/>
            <a:ext cx="523037" cy="5230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1812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Views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863840" y="288036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63840" y="2880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Overview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863840" y="3538728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863840" y="35387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Performance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63840" y="4197096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863840" y="419709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&amp; Cancellation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63840" y="4855464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863840" y="48554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Trends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1A1A2E"/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SQL — Route Revenue View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22960" y="169164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vw_RouteRevenue 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f.Origin, f.Destination,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COUNT(b.BookingID) AS TotalBookings,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SUM(fr.FareAmount)  AS TotalRevenue,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AVG(fr.FareAmount)  AS AvgFare,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ROUND(AVG(f.SeatsSold * 100.0 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f.SeatsAvailable), 2) AS LoadFactor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Flights 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Bookings b ON b.FlightID = f.FlightID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Fares fr    ON fr.FareID  = b.FareID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f.Origin, f.Destination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TotalRevenue DESC;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355080" y="1097280"/>
            <a:ext cx="530352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Route (Sample Output)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92240" y="1691640"/>
          <a:ext cx="5029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097280"/>
            <a:ext cx="6949440" cy="5120640"/>
          </a:xfrm>
          <a:prstGeom prst="roundRect">
            <a:avLst>
              <a:gd name="adj" fmla="val 1786"/>
            </a:avLst>
          </a:prstGeom>
          <a:solidFill>
            <a:srgbClr val="E7F1FA"/>
          </a:solidFill>
          <a:ln/>
        </p:spPr>
      </p:sp>
      <p:sp>
        <p:nvSpPr>
          <p:cNvPr id="6" name="Text 2"/>
          <p:cNvSpPr/>
          <p:nvPr/>
        </p:nvSpPr>
        <p:spPr>
          <a:xfrm>
            <a:off x="868680" y="1417320"/>
            <a:ext cx="63093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SQL database successfully consolidates flights, bookings, fares, and passenger records.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views deliver accurate revenue, load-factor, and delay KPIs on demand.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provide real-time, drill-down visibility into route performance.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 filter by airline, route, and date range for instant insights.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reporting time reduced compared to manual spreadsheet-based analysis.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7818120" y="123444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3315C"/>
          </a:solidFill>
          <a:ln/>
        </p:spPr>
      </p:sp>
      <p:sp>
        <p:nvSpPr>
          <p:cNvPr id="8" name="Text 4"/>
          <p:cNvSpPr/>
          <p:nvPr/>
        </p:nvSpPr>
        <p:spPr>
          <a:xfrm>
            <a:off x="800100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001000" y="2057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SQL Modules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18120" y="297180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/>
        </p:spPr>
      </p:sp>
      <p:sp>
        <p:nvSpPr>
          <p:cNvPr id="11" name="Text 7"/>
          <p:cNvSpPr/>
          <p:nvPr/>
        </p:nvSpPr>
        <p:spPr>
          <a:xfrm>
            <a:off x="8001000" y="3108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001000" y="37947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 Built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818120" y="4709160"/>
            <a:ext cx="3749040" cy="1508760"/>
          </a:xfrm>
          <a:prstGeom prst="roundRect">
            <a:avLst>
              <a:gd name="adj" fmla="val 6061"/>
            </a:avLst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8001000" y="48463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001000" y="5532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Refresh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OUTPUT (POWER BI)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57200" y="1051560"/>
            <a:ext cx="11277295" cy="5212080"/>
          </a:xfrm>
          <a:prstGeom prst="roundRect">
            <a:avLst>
              <a:gd name="adj" fmla="val 1754"/>
            </a:avLst>
          </a:prstGeom>
          <a:solidFill>
            <a:srgbClr val="1A1A2E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Performance Overview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31520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17556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₹2.4 Cr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68680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429000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11" name="Text 7"/>
          <p:cNvSpPr/>
          <p:nvPr/>
        </p:nvSpPr>
        <p:spPr>
          <a:xfrm>
            <a:off x="3566160" y="17556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81.5%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566160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Load Factor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14" name="Text 10"/>
          <p:cNvSpPr/>
          <p:nvPr/>
        </p:nvSpPr>
        <p:spPr>
          <a:xfrm>
            <a:off x="6263640" y="17556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4,320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263640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823960" y="16916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/>
        </p:spPr>
      </p:sp>
      <p:sp>
        <p:nvSpPr>
          <p:cNvPr id="17" name="Text 13"/>
          <p:cNvSpPr/>
          <p:nvPr/>
        </p:nvSpPr>
        <p:spPr>
          <a:xfrm>
            <a:off x="8961120" y="17556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59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6.2%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961120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0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731520" y="2971800"/>
          <a:ext cx="51206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6035040" y="2971800"/>
          <a:ext cx="28346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Shape 15"/>
          <p:cNvSpPr/>
          <p:nvPr/>
        </p:nvSpPr>
        <p:spPr>
          <a:xfrm>
            <a:off x="9098280" y="2971800"/>
            <a:ext cx="2377440" cy="3063240"/>
          </a:xfrm>
          <a:prstGeom prst="roundRect">
            <a:avLst>
              <a:gd name="adj" fmla="val 3077"/>
            </a:avLst>
          </a:prstGeom>
          <a:solidFill>
            <a:srgbClr val="13315C"/>
          </a:solidFill>
          <a:ln/>
        </p:spPr>
      </p:sp>
      <p:sp>
        <p:nvSpPr>
          <p:cNvPr id="22" name="Text 16"/>
          <p:cNvSpPr/>
          <p:nvPr/>
        </p:nvSpPr>
        <p:spPr>
          <a:xfrm>
            <a:off x="923544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235440" y="35204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/>
        </p:spPr>
      </p:sp>
      <p:sp>
        <p:nvSpPr>
          <p:cNvPr id="24" name="Text 18"/>
          <p:cNvSpPr/>
          <p:nvPr/>
        </p:nvSpPr>
        <p:spPr>
          <a:xfrm>
            <a:off x="9326880" y="3520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235440" y="4142232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/>
        </p:spPr>
      </p:sp>
      <p:sp>
        <p:nvSpPr>
          <p:cNvPr id="26" name="Text 20"/>
          <p:cNvSpPr/>
          <p:nvPr/>
        </p:nvSpPr>
        <p:spPr>
          <a:xfrm>
            <a:off x="9326880" y="41422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235440" y="4764024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/>
        </p:spPr>
      </p:sp>
      <p:sp>
        <p:nvSpPr>
          <p:cNvPr id="28" name="Text 22"/>
          <p:cNvSpPr/>
          <p:nvPr/>
        </p:nvSpPr>
        <p:spPr>
          <a:xfrm>
            <a:off x="9326880" y="47640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235440" y="538581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/>
        </p:spPr>
      </p:sp>
      <p:sp>
        <p:nvSpPr>
          <p:cNvPr id="30" name="Text 24"/>
          <p:cNvSpPr/>
          <p:nvPr/>
        </p:nvSpPr>
        <p:spPr>
          <a:xfrm>
            <a:off x="9326880" y="53858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Class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822960" y="1645920"/>
            <a:ext cx="2377440" cy="23774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2" descr="assets/icon_pl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3546" y="2216506"/>
            <a:ext cx="1236269" cy="123626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74904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system successfully combines: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3749040" y="1965960"/>
            <a:ext cx="594360" cy="5943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9" name="Image 3" descr="assets/icon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1686" y="2108606"/>
            <a:ext cx="309067" cy="3090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26280" y="1947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(SQL)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4526280" y="225856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normalized airline database</a:t>
            </a:r>
            <a:endParaRPr lang="en-US" sz="1150" dirty="0"/>
          </a:p>
        </p:txBody>
      </p:sp>
      <p:sp>
        <p:nvSpPr>
          <p:cNvPr id="12" name="Shape 6"/>
          <p:cNvSpPr/>
          <p:nvPr/>
        </p:nvSpPr>
        <p:spPr>
          <a:xfrm>
            <a:off x="3749040" y="28346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4" descr="assets/icon_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1686" y="2977286"/>
            <a:ext cx="309067" cy="30906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2628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(SQL Queries)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526280" y="312724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load factor &amp; profitability insights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3749040" y="37033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5" descr="assets/icon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1686" y="3845966"/>
            <a:ext cx="309067" cy="30906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52628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(Power BI)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4526280" y="399592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real-time decision dashboards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548640" y="489204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E7F1FA"/>
          </a:solidFill>
          <a:ln/>
        </p:spPr>
      </p:sp>
      <p:sp>
        <p:nvSpPr>
          <p:cNvPr id="21" name="Text 13"/>
          <p:cNvSpPr/>
          <p:nvPr/>
        </p:nvSpPr>
        <p:spPr>
          <a:xfrm>
            <a:off x="822960" y="4892040"/>
            <a:ext cx="105457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for: Airline revenue management teams, route planning departments, and executive reporting dashboards.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234440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2" descr="assets/icon_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1399032"/>
            <a:ext cx="356616" cy="3566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508760" y="1252728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8" name="Text 3"/>
          <p:cNvSpPr/>
          <p:nvPr/>
        </p:nvSpPr>
        <p:spPr>
          <a:xfrm>
            <a:off x="1737360" y="1252728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a cloud data warehouse (Azure SQL / Synapse) for scale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640080" y="2258568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3" descr="assets/icon_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423160"/>
            <a:ext cx="356616" cy="35661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508760" y="2276856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12" name="Text 6"/>
          <p:cNvSpPr/>
          <p:nvPr/>
        </p:nvSpPr>
        <p:spPr>
          <a:xfrm>
            <a:off x="1737360" y="2276856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analytics (ML) for fare forecasting and demand prediction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640080" y="3282696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4" descr="assets/ic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447288"/>
            <a:ext cx="356616" cy="35661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508760" y="3300984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16" name="Text 9"/>
          <p:cNvSpPr/>
          <p:nvPr/>
        </p:nvSpPr>
        <p:spPr>
          <a:xfrm>
            <a:off x="1737360" y="3300984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data into Power BI for live flight monitoring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" y="4306824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8" name="Image 5" descr="assets/icon_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4471416"/>
            <a:ext cx="356616" cy="35661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508760" y="4325112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20" name="Text 12"/>
          <p:cNvSpPr/>
          <p:nvPr/>
        </p:nvSpPr>
        <p:spPr>
          <a:xfrm>
            <a:off x="1737360" y="4325112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secure, department-wise dashboard views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640080" y="53309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6" descr="assets/icon_site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5495544"/>
            <a:ext cx="356616" cy="356616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508760" y="5349240"/>
            <a:ext cx="10042855" cy="868680"/>
          </a:xfrm>
          <a:prstGeom prst="roundRect">
            <a:avLst>
              <a:gd name="adj" fmla="val 8421"/>
            </a:avLst>
          </a:prstGeom>
          <a:solidFill>
            <a:srgbClr val="E7F1FA"/>
          </a:solidFill>
          <a:ln/>
        </p:spPr>
      </p:sp>
      <p:sp>
        <p:nvSpPr>
          <p:cNvPr id="24" name="Text 15"/>
          <p:cNvSpPr/>
          <p:nvPr/>
        </p:nvSpPr>
        <p:spPr>
          <a:xfrm>
            <a:off x="1737360" y="5349240"/>
            <a:ext cx="9585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 to multi-airline, multi-country route networks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g2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pic>
        <p:nvPicPr>
          <p:cNvPr id="3" name="Image 1" descr="assets/pg2-0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015" y="25603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5840" y="201168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188720"/>
            <a:ext cx="10911535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R. Kumar and A. Singh, "SQL-Based Airline Data Warehousing," Journal of Data Engineering, 2023.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P. Zhao et al., "BI Dashboards for Airline Revenue Management," Int. Journal of Aviation Analytics, 2023.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Fernandes, "Predictive Analytics in Airline Pricing," Transportation Research, 2024.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S. Rao and K. Iyer, "Cloud SQL Data Pipelines for Aviation," IEEE Access, 2024.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A. Gupta, "Interactive Visualization for Route Profitability," Journal of Business Intelligence, 2024.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L. Chen, "Customer Segmentation using Airline Booking Data," Data Science Review, 2025.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Microsoft, "Power BI Documentation — Data Modeling and DAX," 2025.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Microsoft, "SQL Server T-SQL Reference Documentation," 2025.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9"/>
                </a:solidFill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5547208" y="1828800"/>
            <a:ext cx="1097280" cy="10972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assets/icon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5" y="209214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Business Intelligence using SQL and Power BI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1738</Words>
  <Application>Microsoft Office PowerPoint</Application>
  <PresentationFormat>Widescreen</PresentationFormat>
  <Paragraphs>275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Mithun s</cp:lastModifiedBy>
  <cp:revision>1</cp:revision>
  <dcterms:created xsi:type="dcterms:W3CDTF">2026-07-22T06:25:33Z</dcterms:created>
  <dcterms:modified xsi:type="dcterms:W3CDTF">2026-09-02T03:50:09Z</dcterms:modified>
</cp:coreProperties>
</file>